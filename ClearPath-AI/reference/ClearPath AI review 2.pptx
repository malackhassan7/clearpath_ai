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C9AC7813-8145-ED5E-B86F-96DD83ACF8E2}">
          <p14:sldIdLst>
            <p14:sldId id="256"/>
          </p14:sldIdLst>
        </p14:section>
        <p14:section name="Problem" id="{550B65F1-D1B6-CDC9-9EF3-32F67A440511}">
          <p14:sldIdLst>
            <p14:sldId id="257"/>
            <p14:sldId id="258"/>
            <p14:sldId id="259"/>
            <p14:sldId id="260"/>
          </p14:sldIdLst>
        </p14:section>
        <p14:section name="Solution" id="{9C007F34-4824-22A5-CC52-0C5D75CF44B7}">
          <p14:sldIdLst>
            <p14:sldId id="261"/>
            <p14:sldId id="262"/>
            <p14:sldId id="263"/>
            <p14:sldId id="264"/>
          </p14:sldIdLst>
        </p14:section>
        <p14:section name="Results" id="{AE896AF5-E445-AD91-6D8E-045680B3C6A3}">
          <p14:sldIdLst>
            <p14:sldId id="265"/>
            <p14:sldId id="266"/>
            <p14:sldId id="267"/>
            <p14:sldId id="268"/>
          </p14:sldIdLst>
        </p14:section>
        <p14:section name="Wrap-up" id="{4FBDA93D-2E94-0B8D-9504-2A017D4132C0}">
          <p14:sldIdLst>
            <p14:sldId id="269"/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81951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6"/>
                </a:solidFill>
              </a:rPr>
              <a:t>DairySetu-TN  |  SIH 26130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4F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188720"/>
            <a:ext cx="82296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5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 large"/>
          <p:cNvSpPr/>
          <p:nvPr/>
        </p:nvSpPr>
        <p:spPr>
          <a:xfrm>
            <a:off x="9052560" y="640080"/>
            <a:ext cx="3840480" cy="38404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decor small"/>
          <p:cNvSpPr/>
          <p:nvPr/>
        </p:nvSpPr>
        <p:spPr>
          <a:xfrm>
            <a:off x="10332720" y="3108960"/>
            <a:ext cx="2194560" cy="219456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548640" y="640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chemeClr val="accent2"/>
                </a:solidFill>
              </a:rPr>
              <a:t>SIH 26130</a:t>
            </a:r>
            <a:endParaRPr lang="en-US" sz="1600" dirty="0"/>
          </a:p>
        </p:txBody>
      </p:sp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18872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CLEARPATH AI</a:t>
            </a:r>
            <a:endParaRPr lang="en-US" sz="54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548640" y="246888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chemeClr val="bg1"/>
                </a:solidFill>
              </a:rPr>
              <a:t>A Unified Digital Platform for the Tamil Nadu Dairy Ecosystem: Compliance, Traceability, Market Intelligence, and Grievance Redressal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657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i="1" dirty="0">
                <a:solidFill>
                  <a:schemeClr val="accent4"/>
                </a:solidFill>
              </a:rPr>
              <a:t>“One Platform for Every Dairy Stakeholder in Tamil Nadu”</a:t>
            </a:r>
            <a:endParaRPr lang="en-US" sz="1800" dirty="0"/>
          </a:p>
        </p:txBody>
      </p:sp>
      <p:sp>
        <p:nvSpPr>
          <p:cNvPr id="8" name="team card 1"/>
          <p:cNvSpPr/>
          <p:nvPr/>
        </p:nvSpPr>
        <p:spPr>
          <a:xfrm>
            <a:off x="548640" y="4754880"/>
            <a:ext cx="2651760" cy="1371600"/>
          </a:xfrm>
          <a:prstGeom prst="roundRect">
            <a:avLst>
              <a:gd name="adj" fmla="val 5333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731520" y="493776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Malack Mohammed Hassan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23MID0355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Team Leader</a:t>
            </a:r>
            <a:endParaRPr lang="en-US" sz="1400" dirty="0"/>
          </a:p>
        </p:txBody>
      </p:sp>
      <p:sp>
        <p:nvSpPr>
          <p:cNvPr id="10" name="team card 2"/>
          <p:cNvSpPr/>
          <p:nvPr/>
        </p:nvSpPr>
        <p:spPr>
          <a:xfrm>
            <a:off x="3364992" y="4754880"/>
            <a:ext cx="2651760" cy="1371600"/>
          </a:xfrm>
          <a:prstGeom prst="roundRect">
            <a:avLst>
              <a:gd name="adj" fmla="val 5333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3547872" y="493776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Mohammed Saad R K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23MID0236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Team Member</a:t>
            </a:r>
            <a:endParaRPr lang="en-US" sz="1400" dirty="0"/>
          </a:p>
        </p:txBody>
      </p:sp>
      <p:sp>
        <p:nvSpPr>
          <p:cNvPr id="12" name="team card 3"/>
          <p:cNvSpPr/>
          <p:nvPr/>
        </p:nvSpPr>
        <p:spPr>
          <a:xfrm>
            <a:off x="6181344" y="4754880"/>
            <a:ext cx="2651760" cy="1371600"/>
          </a:xfrm>
          <a:prstGeom prst="roundRect">
            <a:avLst>
              <a:gd name="adj" fmla="val 5333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6364224" y="493776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Atif Ahmed J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23MID0085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Team Member</a:t>
            </a:r>
            <a:endParaRPr lang="en-US" sz="1400" dirty="0"/>
          </a:p>
        </p:txBody>
      </p:sp>
      <p:sp>
        <p:nvSpPr>
          <p:cNvPr id="14" name="team card 4"/>
          <p:cNvSpPr/>
          <p:nvPr/>
        </p:nvSpPr>
        <p:spPr>
          <a:xfrm>
            <a:off x="8997696" y="4754880"/>
            <a:ext cx="2651760" cy="1371600"/>
          </a:xfrm>
          <a:prstGeom prst="roundRect">
            <a:avLst>
              <a:gd name="adj" fmla="val 5333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 txBox="1"/>
          <p:nvPr/>
        </p:nvSpPr>
        <p:spPr>
          <a:xfrm>
            <a:off x="9180576" y="493776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Mohammed Faraaz Ishaque M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23MID0129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Team Member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Motivation &amp; Background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3566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Starting or expanding a dairy business in Tamil Nadu (collection centres, retail parlours, chilling units, processing plants, Aavin franchises) means working across multiple siloed channels.</a:t>
            </a:r>
            <a:endParaRPr lang="en-US" sz="1700" dirty="0"/>
          </a:p>
        </p:txBody>
      </p:sp>
      <p:sp>
        <p:nvSpPr>
          <p:cNvPr id="4" name="callout bg"/>
          <p:cNvSpPr/>
          <p:nvPr/>
        </p:nvSpPr>
        <p:spPr>
          <a:xfrm>
            <a:off x="548640" y="4206240"/>
            <a:ext cx="3566160" cy="1737360"/>
          </a:xfrm>
          <a:prstGeom prst="roundRect">
            <a:avLst>
              <a:gd name="adj" fmla="val 4211"/>
            </a:avLst>
          </a:prstGeom>
          <a:solidFill>
            <a:schemeClr val="accent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777240" y="44348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Core challenge</a:t>
            </a:r>
            <a:endParaRPr lang="en-US" sz="1400" dirty="0"/>
          </a:p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Fragmented guidance leads to compliance gaps and approval delays.</a:t>
            </a:r>
            <a:endParaRPr lang="en-US" sz="1400" dirty="0"/>
          </a:p>
        </p:txBody>
      </p:sp>
      <p:sp>
        <p:nvSpPr>
          <p:cNvPr id="6" name="friction card 1"/>
          <p:cNvSpPr/>
          <p:nvPr/>
        </p:nvSpPr>
        <p:spPr>
          <a:xfrm>
            <a:off x="4480560" y="1554480"/>
            <a:ext cx="3474720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Licensing Confusion circle"/>
          <p:cNvSpPr/>
          <p:nvPr/>
        </p:nvSpPr>
        <p:spPr>
          <a:xfrm>
            <a:off x="4709160" y="178308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" name="Image 0" descr="Licensing Confus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0" y="1931670"/>
            <a:ext cx="297180" cy="29718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709160" y="25146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Licensing Confusion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4709160" y="29260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Unclear whether an operation needs FSSAI Registration, State or Central License based on LPD.</a:t>
            </a:r>
            <a:endParaRPr lang="en-US" sz="1400" dirty="0"/>
          </a:p>
        </p:txBody>
      </p:sp>
      <p:sp>
        <p:nvSpPr>
          <p:cNvPr id="11" name="friction card 2"/>
          <p:cNvSpPr/>
          <p:nvPr/>
        </p:nvSpPr>
        <p:spPr>
          <a:xfrm>
            <a:off x="8229600" y="1554480"/>
            <a:ext cx="3474720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cattered Requirements circle"/>
          <p:cNvSpPr/>
          <p:nvPr/>
        </p:nvSpPr>
        <p:spPr>
          <a:xfrm>
            <a:off x="8458200" y="178308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1" descr="Scattered Requirement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06790" y="1931670"/>
            <a:ext cx="297180" cy="29718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8458200" y="25146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Scattered Requirements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8458200" y="29260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Guidelines, document checklists and water test mandates spread across FoSCoS, Aavin and district portals.</a:t>
            </a:r>
            <a:endParaRPr lang="en-US" sz="1400" dirty="0"/>
          </a:p>
        </p:txBody>
      </p:sp>
      <p:sp>
        <p:nvSpPr>
          <p:cNvPr id="16" name="friction card 3"/>
          <p:cNvSpPr/>
          <p:nvPr/>
        </p:nvSpPr>
        <p:spPr>
          <a:xfrm>
            <a:off x="4480560" y="3886200"/>
            <a:ext cx="3474720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No Market Intelligence circle"/>
          <p:cNvSpPr/>
          <p:nvPr/>
        </p:nvSpPr>
        <p:spPr>
          <a:xfrm>
            <a:off x="4709160" y="411480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8" name="Image 2" descr="No Market Intelligenc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7750" y="4263390"/>
            <a:ext cx="297180" cy="29718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4709160" y="48463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No Market Intelligence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4709160" y="525780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No data-driven guidance on the most lucrative districts for a dairy venture.</a:t>
            </a:r>
            <a:endParaRPr lang="en-US" sz="1400" dirty="0"/>
          </a:p>
        </p:txBody>
      </p:sp>
      <p:sp>
        <p:nvSpPr>
          <p:cNvPr id="21" name="friction card 4"/>
          <p:cNvSpPr/>
          <p:nvPr/>
        </p:nvSpPr>
        <p:spPr>
          <a:xfrm>
            <a:off x="8229600" y="3886200"/>
            <a:ext cx="3474720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Opaque Tracking circle"/>
          <p:cNvSpPr/>
          <p:nvPr/>
        </p:nvSpPr>
        <p:spPr>
          <a:xfrm>
            <a:off x="8458200" y="411480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3" name="Image 3" descr="Opaque Tracki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06790" y="4263390"/>
            <a:ext cx="297180" cy="29718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8458200" y="48463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Opaque Tracking</a:t>
            </a:r>
            <a:endParaRPr lang="en-US" sz="1800" dirty="0"/>
          </a:p>
        </p:txBody>
      </p:sp>
      <p:sp>
        <p:nvSpPr>
          <p:cNvPr id="25" name="Text 19"/>
          <p:cNvSpPr txBox="1"/>
          <p:nvPr/>
        </p:nvSpPr>
        <p:spPr>
          <a:xfrm>
            <a:off x="8458200" y="525780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Manual tracking of deadlines, audit logs and brand rules (e.g., Aavin FRO) delays approvals.</a:t>
            </a:r>
            <a:endParaRPr lang="en-US" sz="14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Scope of the Project</a:t>
            </a:r>
            <a:endParaRPr lang="en-US" sz="3400" dirty="0"/>
          </a:p>
        </p:txBody>
      </p:sp>
      <p:sp>
        <p:nvSpPr>
          <p:cNvPr id="3" name="scope row 1"/>
          <p:cNvSpPr/>
          <p:nvPr/>
        </p:nvSpPr>
        <p:spPr>
          <a:xfrm>
            <a:off x="548640" y="1371600"/>
            <a:ext cx="11155680" cy="713232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number 1"/>
          <p:cNvSpPr txBox="1"/>
          <p:nvPr/>
        </p:nvSpPr>
        <p:spPr>
          <a:xfrm>
            <a:off x="731520" y="1499616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463040" y="1371600"/>
            <a:ext cx="3383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Dynamic Rule Engine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937760" y="1371600"/>
            <a:ext cx="6583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Maps project parameters to exact FSSAI license tiers and fee structures.</a:t>
            </a:r>
            <a:endParaRPr lang="en-US" sz="1400" dirty="0"/>
          </a:p>
        </p:txBody>
      </p:sp>
      <p:sp>
        <p:nvSpPr>
          <p:cNvPr id="7" name="scope row 2"/>
          <p:cNvSpPr/>
          <p:nvPr/>
        </p:nvSpPr>
        <p:spPr>
          <a:xfrm>
            <a:off x="548640" y="2194560"/>
            <a:ext cx="11155680" cy="713232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number 2"/>
          <p:cNvSpPr txBox="1"/>
          <p:nvPr/>
        </p:nvSpPr>
        <p:spPr>
          <a:xfrm>
            <a:off x="731520" y="2322576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2194560"/>
            <a:ext cx="3383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Document Checklist &amp; Verification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937760" y="2194560"/>
            <a:ext cx="6583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Pre-validates mandatory documents through a 3-tier honest validation pipeline.</a:t>
            </a:r>
            <a:endParaRPr lang="en-US" sz="1400" dirty="0"/>
          </a:p>
        </p:txBody>
      </p:sp>
      <p:sp>
        <p:nvSpPr>
          <p:cNvPr id="11" name="scope row 3"/>
          <p:cNvSpPr/>
          <p:nvPr/>
        </p:nvSpPr>
        <p:spPr>
          <a:xfrm>
            <a:off x="548640" y="3017520"/>
            <a:ext cx="11155680" cy="713232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number 3"/>
          <p:cNvSpPr txBox="1"/>
          <p:nvPr/>
        </p:nvSpPr>
        <p:spPr>
          <a:xfrm>
            <a:off x="731520" y="3145536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463040" y="3017520"/>
            <a:ext cx="3383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Hybrid RAG Chatbot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937760" y="3017520"/>
            <a:ext cx="6583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Bilingual (English &amp; Tamil) assistant grounded in official PDFs, with page-level citations.</a:t>
            </a:r>
            <a:endParaRPr lang="en-US" sz="1400" dirty="0"/>
          </a:p>
        </p:txBody>
      </p:sp>
      <p:sp>
        <p:nvSpPr>
          <p:cNvPr id="15" name="scope row 4"/>
          <p:cNvSpPr/>
          <p:nvPr/>
        </p:nvSpPr>
        <p:spPr>
          <a:xfrm>
            <a:off x="548640" y="3840480"/>
            <a:ext cx="11155680" cy="713232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number 4"/>
          <p:cNvSpPr txBox="1"/>
          <p:nvPr/>
        </p:nvSpPr>
        <p:spPr>
          <a:xfrm>
            <a:off x="731520" y="3968496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3840480"/>
            <a:ext cx="3383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District Opportunity Finder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937760" y="3840480"/>
            <a:ext cx="6583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Market suitability scoring from real district-wise milk production data (data.gov.in).</a:t>
            </a:r>
            <a:endParaRPr lang="en-US" sz="1400" dirty="0"/>
          </a:p>
        </p:txBody>
      </p:sp>
      <p:sp>
        <p:nvSpPr>
          <p:cNvPr id="19" name="scope row 5"/>
          <p:cNvSpPr/>
          <p:nvPr/>
        </p:nvSpPr>
        <p:spPr>
          <a:xfrm>
            <a:off x="548640" y="4663440"/>
            <a:ext cx="11155680" cy="713232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number 5"/>
          <p:cNvSpPr txBox="1"/>
          <p:nvPr/>
        </p:nvSpPr>
        <p:spPr>
          <a:xfrm>
            <a:off x="731520" y="4791456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463040" y="4663440"/>
            <a:ext cx="3383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Workflow &amp; Grievance Tracking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4937760" y="4663440"/>
            <a:ext cx="6583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Role-based dashboards for farmers, entrepreneurs, officers and administrators.</a:t>
            </a:r>
            <a:endParaRPr lang="en-US" sz="1400" dirty="0"/>
          </a:p>
        </p:txBody>
      </p:sp>
      <p:sp>
        <p:nvSpPr>
          <p:cNvPr id="23" name="limitation bg"/>
          <p:cNvSpPr/>
          <p:nvPr/>
        </p:nvSpPr>
        <p:spPr>
          <a:xfrm>
            <a:off x="548640" y="5577840"/>
            <a:ext cx="11155680" cy="640080"/>
          </a:xfrm>
          <a:prstGeom prst="roundRect">
            <a:avLst>
              <a:gd name="adj" fmla="val 11429"/>
            </a:avLst>
          </a:prstGeom>
          <a:solidFill>
            <a:schemeClr val="accent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 txBox="1"/>
          <p:nvPr/>
        </p:nvSpPr>
        <p:spPr>
          <a:xfrm>
            <a:off x="777240" y="557784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Scope limitation: </a:t>
            </a:r>
            <a:r>
              <a:rPr lang="en-US" sz="1500" dirty="0">
                <a:solidFill>
                  <a:schemeClr val="tx1"/>
                </a:solidFill>
              </a:rPr>
              <a:t>the platform provides decision support; final legal approval rests with FSSAI / Aavin.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Objectives of the Project</a:t>
            </a:r>
            <a:endParaRPr lang="en-US" sz="3400" dirty="0"/>
          </a:p>
        </p:txBody>
      </p:sp>
      <p:sp>
        <p:nvSpPr>
          <p:cNvPr id="3" name="objective card 1"/>
          <p:cNvSpPr/>
          <p:nvPr/>
        </p:nvSpPr>
        <p:spPr>
          <a:xfrm>
            <a:off x="548640" y="1463040"/>
            <a:ext cx="356616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822960" y="169164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01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46888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Centralize the dairy regulatory and compliance workflow in one platform.</a:t>
            </a:r>
            <a:endParaRPr lang="en-US" sz="1500" dirty="0"/>
          </a:p>
        </p:txBody>
      </p:sp>
      <p:sp>
        <p:nvSpPr>
          <p:cNvPr id="6" name="objective card 2"/>
          <p:cNvSpPr/>
          <p:nvPr/>
        </p:nvSpPr>
        <p:spPr>
          <a:xfrm>
            <a:off x="4343400" y="1463040"/>
            <a:ext cx="356616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4617720" y="169164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02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4617720" y="246888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Automate identification of FSSAI license tiers and fees from daily milk capacity (LPD).</a:t>
            </a:r>
            <a:endParaRPr lang="en-US" sz="1500" dirty="0"/>
          </a:p>
        </p:txBody>
      </p:sp>
      <p:sp>
        <p:nvSpPr>
          <p:cNvPr id="9" name="objective card 3"/>
          <p:cNvSpPr/>
          <p:nvPr/>
        </p:nvSpPr>
        <p:spPr>
          <a:xfrm>
            <a:off x="8138160" y="1463040"/>
            <a:ext cx="356616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8412480" y="169164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03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8412480" y="246888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Remove confusion around mandatory documents such as water potability reports and blueprints.</a:t>
            </a:r>
            <a:endParaRPr lang="en-US" sz="1500" dirty="0"/>
          </a:p>
        </p:txBody>
      </p:sp>
      <p:sp>
        <p:nvSpPr>
          <p:cNvPr id="12" name="objective card 4"/>
          <p:cNvSpPr/>
          <p:nvPr/>
        </p:nvSpPr>
        <p:spPr>
          <a:xfrm>
            <a:off x="548640" y="3886200"/>
            <a:ext cx="356616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822960" y="411480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04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89204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Provide market intelligence from real Tamil Nadu district milk production data.</a:t>
            </a:r>
            <a:endParaRPr lang="en-US" sz="1500" dirty="0"/>
          </a:p>
        </p:txBody>
      </p:sp>
      <p:sp>
        <p:nvSpPr>
          <p:cNvPr id="15" name="objective card 5"/>
          <p:cNvSpPr/>
          <p:nvPr/>
        </p:nvSpPr>
        <p:spPr>
          <a:xfrm>
            <a:off x="4343400" y="3886200"/>
            <a:ext cx="356616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4617720" y="411480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05</a:t>
            </a:r>
            <a:endParaRPr lang="en-US" sz="4000" dirty="0"/>
          </a:p>
        </p:txBody>
      </p:sp>
      <p:sp>
        <p:nvSpPr>
          <p:cNvPr id="17" name="Text 15"/>
          <p:cNvSpPr txBox="1"/>
          <p:nvPr/>
        </p:nvSpPr>
        <p:spPr>
          <a:xfrm>
            <a:off x="4617720" y="489204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Support English and Tamil interactions through an advanced RAG chatbot.</a:t>
            </a:r>
            <a:endParaRPr lang="en-US" sz="1500" dirty="0"/>
          </a:p>
        </p:txBody>
      </p:sp>
      <p:sp>
        <p:nvSpPr>
          <p:cNvPr id="18" name="objective card 6"/>
          <p:cNvSpPr/>
          <p:nvPr/>
        </p:nvSpPr>
        <p:spPr>
          <a:xfrm>
            <a:off x="8138160" y="3886200"/>
            <a:ext cx="356616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 txBox="1"/>
          <p:nvPr/>
        </p:nvSpPr>
        <p:spPr>
          <a:xfrm>
            <a:off x="8412480" y="411480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06</a:t>
            </a:r>
            <a:endParaRPr lang="en-US" sz="4000" dirty="0"/>
          </a:p>
        </p:txBody>
      </p:sp>
      <p:sp>
        <p:nvSpPr>
          <p:cNvPr id="20" name="Text 18"/>
          <p:cNvSpPr txBox="1"/>
          <p:nvPr/>
        </p:nvSpPr>
        <p:spPr>
          <a:xfrm>
            <a:off x="8412480" y="489204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Streamline application tracking, deadline monitoring and officer review queues.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Literature &amp; Portal Review</a:t>
            </a:r>
            <a:endParaRPr lang="en-US" sz="3400" dirty="0"/>
          </a:p>
        </p:txBody>
      </p:sp>
      <p:graphicFrame>
        <p:nvGraphicFramePr>
          <p:cNvPr id="6" name="literature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155680" cy="397764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System / Portal</a:t>
                      </a:r>
                      <a:endParaRPr lang="en-US" sz="1400" dirty="0"/>
                    </a:p>
                  </a:txBody>
                  <a:tcPr marL="137160" marR="137160" anchor="ctr">
                    <a:lnL w="12700" cap="flat" cmpd="sng" algn="ctr">
                      <a:solidFill>
                        <a:srgbClr val="C8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Main Function</a:t>
                      </a:r>
                      <a:endParaRPr lang="en-US" sz="1400" dirty="0"/>
                    </a:p>
                  </a:txBody>
                  <a:tcPr marL="137160" marR="137160" anchor="ctr">
                    <a:lnL w="12700" cap="flat" cmpd="sng" algn="ctr">
                      <a:solidFill>
                        <a:srgbClr val="C8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Limitation in Existing Approach</a:t>
                      </a:r>
                      <a:endParaRPr lang="en-US" sz="1400" dirty="0"/>
                    </a:p>
                  </a:txBody>
                  <a:tcPr marL="137160" marR="137160" anchor="ctr">
                    <a:lnL w="12700" cap="flat" cmpd="sng" algn="ctr">
                      <a:solidFill>
                        <a:srgbClr val="C8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FoSCoS Portal (FSSAI)</a:t>
                      </a:r>
                      <a:endParaRPr lang="en-US" sz="1400" dirty="0"/>
                    </a:p>
                  </a:txBody>
                  <a:tcPr marL="137160" marR="137160" anchor="ctr">
                    <a:lnL w="12700" cap="flat" cmpd="sng" algn="ctr">
                      <a:solidFill>
                        <a:srgbClr val="C8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Online food business licensing and registration</a:t>
                      </a:r>
                      <a:endParaRPr lang="en-US" sz="1400" dirty="0"/>
                    </a:p>
                  </a:txBody>
                  <a:tcPr marL="137160" marR="137160" anchor="ctr">
                    <a:lnL w="12700" cap="flat" cmpd="sng" algn="ctr">
                      <a:solidFill>
                        <a:srgbClr val="C8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Applications only; no regional market data or brand franchise rules (Aavin / Dodla).</a:t>
                      </a:r>
                      <a:endParaRPr lang="en-US" sz="1400" dirty="0"/>
                    </a:p>
                  </a:txBody>
                  <a:tcPr marL="137160" marR="137160" anchor="ctr">
                    <a:lnL w="12700" cap="flat" cmpd="sng" algn="ctr">
                      <a:solidFill>
                        <a:srgbClr val="C8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Aavin Official Portal</a:t>
                      </a:r>
                      <a:endParaRPr lang="en-US" sz="1400" dirty="0"/>
                    </a:p>
                  </a:txBody>
                  <a:tcPr marL="137160" marR="137160" anchor="ctr">
                    <a:lnL w="12700" cap="flat" cmpd="sng" algn="ctr">
                      <a:solidFill>
                        <a:srgbClr val="C8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Tamil Nadu cooperative dairy guidelines and FRO applications</a:t>
                      </a:r>
                      <a:endParaRPr lang="en-US" sz="1400" dirty="0"/>
                    </a:p>
                  </a:txBody>
                  <a:tcPr marL="137160" marR="137160" anchor="ctr">
                    <a:lnL w="12700" cap="flat" cmpd="sng" algn="ctr">
                      <a:solidFill>
                        <a:srgbClr val="C8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Standalone brand portal with separate manual form workflows.</a:t>
                      </a:r>
                      <a:endParaRPr lang="en-US" sz="1400" dirty="0"/>
                    </a:p>
                  </a:txBody>
                  <a:tcPr marL="137160" marR="137160" anchor="ctr">
                    <a:lnL w="12700" cap="flat" cmpd="sng" algn="ctr">
                      <a:solidFill>
                        <a:srgbClr val="C8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data.gov.in (Milk Production)</a:t>
                      </a:r>
                      <a:endParaRPr lang="en-US" sz="1400" dirty="0"/>
                    </a:p>
                  </a:txBody>
                  <a:tcPr marL="137160" marR="137160" anchor="ctr">
                    <a:lnL w="12700" cap="flat" cmpd="sng" algn="ctr">
                      <a:solidFill>
                        <a:srgbClr val="C8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Open government statistical repositories</a:t>
                      </a:r>
                      <a:endParaRPr lang="en-US" sz="1400" dirty="0"/>
                    </a:p>
                  </a:txBody>
                  <a:tcPr marL="137160" marR="137160" anchor="ctr">
                    <a:lnL w="12700" cap="flat" cmpd="sng" algn="ctr">
                      <a:solidFill>
                        <a:srgbClr val="C8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Raw statistics without district-level opportunity analysis or compliance mapping.</a:t>
                      </a:r>
                      <a:endParaRPr lang="en-US" sz="1400" dirty="0"/>
                    </a:p>
                  </a:txBody>
                  <a:tcPr marL="137160" marR="137160" anchor="ctr">
                    <a:lnL w="12700" cap="flat" cmpd="sng" algn="ctr">
                      <a:solidFill>
                        <a:srgbClr val="C8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National Single Window System</a:t>
                      </a:r>
                      <a:endParaRPr lang="en-US" sz="1400" dirty="0"/>
                    </a:p>
                  </a:txBody>
                  <a:tcPr marL="137160" marR="137160" anchor="ctr">
                    <a:lnL w="12700" cap="flat" cmpd="sng" algn="ctr">
                      <a:solidFill>
                        <a:srgbClr val="C8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Investor clearance facilitation</a:t>
                      </a:r>
                      <a:endParaRPr lang="en-US" sz="1400" dirty="0"/>
                    </a:p>
                  </a:txBody>
                  <a:tcPr marL="137160" marR="137160" anchor="ctr">
                    <a:lnL w="12700" cap="flat" cmpd="sng" algn="ctr">
                      <a:solidFill>
                        <a:srgbClr val="C8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Broad industrial focus; lacks dairy rules, LPD brackets and water test checklists.</a:t>
                      </a:r>
                      <a:endParaRPr lang="en-US" sz="1400" dirty="0"/>
                    </a:p>
                  </a:txBody>
                  <a:tcPr marL="137160" marR="137160" anchor="ctr">
                    <a:lnL w="12700" cap="flat" cmpd="sng" algn="ctr">
                      <a:solidFill>
                        <a:srgbClr val="C8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Gap Identified &amp; Solution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Identified gaps</a:t>
            </a:r>
            <a:endParaRPr lang="en-US" sz="2000" dirty="0"/>
          </a:p>
        </p:txBody>
      </p:sp>
      <p:sp>
        <p:nvSpPr>
          <p:cNvPr id="4" name="gap card 1"/>
          <p:cNvSpPr/>
          <p:nvPr/>
        </p:nvSpPr>
        <p:spPr>
          <a:xfrm>
            <a:off x="548640" y="1920240"/>
            <a:ext cx="594360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number 1"/>
          <p:cNvSpPr txBox="1"/>
          <p:nvPr/>
        </p:nvSpPr>
        <p:spPr>
          <a:xfrm>
            <a:off x="777240" y="2286000"/>
            <a:ext cx="548640" cy="548640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205740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Fragmented ecosystem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Compliance (FSSAI), Aavin policies and market data (data.gov.in) live on separate websites.</a:t>
            </a:r>
            <a:endParaRPr lang="en-US" sz="1400" dirty="0"/>
          </a:p>
        </p:txBody>
      </p:sp>
      <p:sp>
        <p:nvSpPr>
          <p:cNvPr id="7" name="gap card 2"/>
          <p:cNvSpPr/>
          <p:nvPr/>
        </p:nvSpPr>
        <p:spPr>
          <a:xfrm>
            <a:off x="548640" y="3337560"/>
            <a:ext cx="594360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number 2"/>
          <p:cNvSpPr txBox="1"/>
          <p:nvPr/>
        </p:nvSpPr>
        <p:spPr>
          <a:xfrm>
            <a:off x="777240" y="3703320"/>
            <a:ext cx="548640" cy="548640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554480" y="347472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Capacity-based ambiguity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Fees (₹100 registration vs. ₹3,000–₹5,000 State license) need manual cross-referencing.</a:t>
            </a:r>
            <a:endParaRPr lang="en-US" sz="1400" dirty="0"/>
          </a:p>
        </p:txBody>
      </p:sp>
      <p:sp>
        <p:nvSpPr>
          <p:cNvPr id="10" name="gap card 3"/>
          <p:cNvSpPr/>
          <p:nvPr/>
        </p:nvSpPr>
        <p:spPr>
          <a:xfrm>
            <a:off x="548640" y="4754880"/>
            <a:ext cx="594360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number 3"/>
          <p:cNvSpPr txBox="1"/>
          <p:nvPr/>
        </p:nvSpPr>
        <p:spPr>
          <a:xfrm>
            <a:off x="777240" y="5120640"/>
            <a:ext cx="548640" cy="548640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554480" y="489204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Document pre-check deficit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No automated check for enclosures like bacteriological water analysis reports before submission.</a:t>
            </a:r>
            <a:endParaRPr lang="en-US" sz="1400" dirty="0"/>
          </a:p>
        </p:txBody>
      </p:sp>
      <p:sp>
        <p:nvSpPr>
          <p:cNvPr id="13" name="solution panel"/>
          <p:cNvSpPr/>
          <p:nvPr/>
        </p:nvSpPr>
        <p:spPr>
          <a:xfrm>
            <a:off x="6858000" y="1417320"/>
            <a:ext cx="4846320" cy="4800600"/>
          </a:xfrm>
          <a:prstGeom prst="roundRect">
            <a:avLst>
              <a:gd name="adj" fmla="val 1524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7178040" y="16459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Our solution: CLEARPATH AI</a:t>
            </a:r>
            <a:endParaRPr lang="en-US" sz="2000" dirty="0"/>
          </a:p>
        </p:txBody>
      </p:sp>
      <p:sp>
        <p:nvSpPr>
          <p:cNvPr id="15" name="check circle 1"/>
          <p:cNvSpPr/>
          <p:nvPr/>
        </p:nvSpPr>
        <p:spPr>
          <a:xfrm>
            <a:off x="7178040" y="242316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0" descr="chec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6912" y="2542032"/>
            <a:ext cx="265176" cy="265176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7909560" y="237744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bg1"/>
                </a:solidFill>
              </a:rPr>
              <a:t>Database-driven rule engine</a:t>
            </a:r>
            <a:endParaRPr lang="en-US" sz="1700" dirty="0"/>
          </a:p>
        </p:txBody>
      </p:sp>
      <p:sp>
        <p:nvSpPr>
          <p:cNvPr id="18" name="check circle 2"/>
          <p:cNvSpPr/>
          <p:nvPr/>
        </p:nvSpPr>
        <p:spPr>
          <a:xfrm>
            <a:off x="7178040" y="333756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9" name="Image 1" descr="chec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6912" y="3456432"/>
            <a:ext cx="265176" cy="265176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7909560" y="329184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bg1"/>
                </a:solidFill>
              </a:rPr>
              <a:t>Honest 3-tier document verifier</a:t>
            </a:r>
            <a:endParaRPr lang="en-US" sz="1700" dirty="0"/>
          </a:p>
        </p:txBody>
      </p:sp>
      <p:sp>
        <p:nvSpPr>
          <p:cNvPr id="21" name="check circle 3"/>
          <p:cNvSpPr/>
          <p:nvPr/>
        </p:nvSpPr>
        <p:spPr>
          <a:xfrm>
            <a:off x="7178040" y="425196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2" name="Image 2" descr="chec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6912" y="4370832"/>
            <a:ext cx="265176" cy="265176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7909560" y="420624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bg1"/>
                </a:solidFill>
              </a:rPr>
              <a:t>District opportunity analyzer</a:t>
            </a:r>
            <a:endParaRPr lang="en-US" sz="1700" dirty="0"/>
          </a:p>
        </p:txBody>
      </p:sp>
      <p:sp>
        <p:nvSpPr>
          <p:cNvPr id="24" name="check circle 4"/>
          <p:cNvSpPr/>
          <p:nvPr/>
        </p:nvSpPr>
        <p:spPr>
          <a:xfrm>
            <a:off x="7178040" y="516636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5" name="Image 3" descr="chec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6912" y="5285232"/>
            <a:ext cx="265176" cy="265176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7909560" y="512064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bg1"/>
                </a:solidFill>
              </a:rPr>
              <a:t>Citation-backed RAG chatbot</a:t>
            </a:r>
            <a:endParaRPr lang="en-US" sz="17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Knowledge Base &amp; Rule Engine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accent6"/>
                </a:solidFill>
              </a:rPr>
              <a:t>Rules map directly to official published FSSAI parameters, not synthetic ones.</a:t>
            </a:r>
            <a:endParaRPr lang="en-US" sz="1600" dirty="0"/>
          </a:p>
        </p:txBody>
      </p:sp>
      <p:sp>
        <p:nvSpPr>
          <p:cNvPr id="4" name="tier card 1"/>
          <p:cNvSpPr/>
          <p:nvPr/>
        </p:nvSpPr>
        <p:spPr>
          <a:xfrm>
            <a:off x="548640" y="1783080"/>
            <a:ext cx="2651760" cy="2377440"/>
          </a:xfrm>
          <a:prstGeom prst="roundRect">
            <a:avLst>
              <a:gd name="adj" fmla="val 3077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777240" y="19659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Up to 500 LPD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4688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chemeClr val="tx2"/>
                </a:solidFill>
              </a:rPr>
              <a:t>₹100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4747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Registration</a:t>
            </a:r>
            <a:endParaRPr lang="en-US" sz="1600" dirty="0"/>
          </a:p>
        </p:txBody>
      </p:sp>
      <p:sp>
        <p:nvSpPr>
          <p:cNvPr id="8" name="tier card 2"/>
          <p:cNvSpPr/>
          <p:nvPr/>
        </p:nvSpPr>
        <p:spPr>
          <a:xfrm>
            <a:off x="3383280" y="1783080"/>
            <a:ext cx="2651760" cy="2377440"/>
          </a:xfrm>
          <a:prstGeom prst="roundRect">
            <a:avLst>
              <a:gd name="adj" fmla="val 3077"/>
            </a:avLst>
          </a:prstGeom>
          <a:solidFill>
            <a:schemeClr val="accent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3611880" y="19659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501–10,000 LPD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611880" y="24688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chemeClr val="tx2"/>
                </a:solidFill>
              </a:rPr>
              <a:t>₹3,000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3611880" y="34747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State License</a:t>
            </a:r>
            <a:endParaRPr lang="en-US" sz="1600" dirty="0"/>
          </a:p>
        </p:txBody>
      </p:sp>
      <p:sp>
        <p:nvSpPr>
          <p:cNvPr id="12" name="tier card 3"/>
          <p:cNvSpPr/>
          <p:nvPr/>
        </p:nvSpPr>
        <p:spPr>
          <a:xfrm>
            <a:off x="6217920" y="1783080"/>
            <a:ext cx="2651760" cy="2377440"/>
          </a:xfrm>
          <a:prstGeom prst="roundRect">
            <a:avLst>
              <a:gd name="adj" fmla="val 3077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6446520" y="19659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10,001–50,000 LPD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446520" y="24688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chemeClr val="accent2"/>
                </a:solidFill>
              </a:rPr>
              <a:t>₹5,000</a:t>
            </a:r>
            <a:endParaRPr lang="en-US" sz="440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34747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State License</a:t>
            </a:r>
            <a:endParaRPr lang="en-US" sz="1600" dirty="0"/>
          </a:p>
        </p:txBody>
      </p:sp>
      <p:sp>
        <p:nvSpPr>
          <p:cNvPr id="16" name="tier card 4"/>
          <p:cNvSpPr/>
          <p:nvPr/>
        </p:nvSpPr>
        <p:spPr>
          <a:xfrm>
            <a:off x="9052560" y="1783080"/>
            <a:ext cx="2651760" cy="2377440"/>
          </a:xfrm>
          <a:prstGeom prst="roundRect">
            <a:avLst>
              <a:gd name="adj" fmla="val 3077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9281160" y="19659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More than 50,000 LPD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281160" y="24688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chemeClr val="accent2"/>
                </a:solidFill>
              </a:rPr>
              <a:t>₹7,500</a:t>
            </a:r>
            <a:endParaRPr lang="en-US" sz="4400" dirty="0"/>
          </a:p>
        </p:txBody>
      </p:sp>
      <p:sp>
        <p:nvSpPr>
          <p:cNvPr id="19" name="Text 17"/>
          <p:cNvSpPr txBox="1"/>
          <p:nvPr/>
        </p:nvSpPr>
        <p:spPr>
          <a:xfrm>
            <a:off x="9281160" y="34747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Central License</a:t>
            </a:r>
            <a:endParaRPr lang="en-US" sz="1600" dirty="0"/>
          </a:p>
        </p:txBody>
      </p:sp>
      <p:sp>
        <p:nvSpPr>
          <p:cNvPr id="20" name="documents panel"/>
          <p:cNvSpPr/>
          <p:nvPr/>
        </p:nvSpPr>
        <p:spPr>
          <a:xfrm>
            <a:off x="548640" y="4434840"/>
            <a:ext cx="11155680" cy="178308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 txBox="1"/>
          <p:nvPr/>
        </p:nvSpPr>
        <p:spPr>
          <a:xfrm>
            <a:off x="777240" y="4572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Mandatory FSSAI document mapping</a:t>
            </a:r>
            <a:endParaRPr lang="en-US" sz="1800" dirty="0"/>
          </a:p>
        </p:txBody>
      </p:sp>
      <p:sp>
        <p:nvSpPr>
          <p:cNvPr id="22" name="Machinery &amp; equipment list circle"/>
          <p:cNvSpPr/>
          <p:nvPr/>
        </p:nvSpPr>
        <p:spPr>
          <a:xfrm>
            <a:off x="777240" y="51663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3" name="Image 0" descr="Machinery &amp; equipment lis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5303520"/>
            <a:ext cx="274320" cy="274320"/>
          </a:xfrm>
          <a:prstGeom prst="rect">
            <a:avLst/>
          </a:prstGeom>
        </p:spPr>
      </p:pic>
      <p:sp>
        <p:nvSpPr>
          <p:cNvPr id="24" name="Text 21"/>
          <p:cNvSpPr txBox="1"/>
          <p:nvPr/>
        </p:nvSpPr>
        <p:spPr>
          <a:xfrm>
            <a:off x="1463040" y="507492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Machinery &amp; equipment list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Installed capacity and horse power</a:t>
            </a:r>
            <a:endParaRPr lang="en-US" sz="1400" dirty="0"/>
          </a:p>
        </p:txBody>
      </p:sp>
      <p:sp>
        <p:nvSpPr>
          <p:cNvPr id="25" name="Unit layout blueprint circle"/>
          <p:cNvSpPr/>
          <p:nvPr/>
        </p:nvSpPr>
        <p:spPr>
          <a:xfrm>
            <a:off x="4434840" y="51663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6" name="Image 1" descr="Unit layout blueprin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5303520"/>
            <a:ext cx="274320" cy="274320"/>
          </a:xfrm>
          <a:prstGeom prst="rect">
            <a:avLst/>
          </a:prstGeom>
        </p:spPr>
      </p:pic>
      <p:sp>
        <p:nvSpPr>
          <p:cNvPr id="27" name="Text 23"/>
          <p:cNvSpPr txBox="1"/>
          <p:nvPr/>
        </p:nvSpPr>
        <p:spPr>
          <a:xfrm>
            <a:off x="5120640" y="507492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Unit layout blueprint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Processing unit plan with metric dimensions</a:t>
            </a:r>
            <a:endParaRPr lang="en-US" sz="1400" dirty="0"/>
          </a:p>
        </p:txBody>
      </p:sp>
      <p:sp>
        <p:nvSpPr>
          <p:cNvPr id="28" name="Water analysis report circle"/>
          <p:cNvSpPr/>
          <p:nvPr/>
        </p:nvSpPr>
        <p:spPr>
          <a:xfrm>
            <a:off x="8092440" y="51663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9" name="Image 2" descr="Water analysis repor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0" y="5303520"/>
            <a:ext cx="274320" cy="274320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8778240" y="507492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Water analysis report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Chemical &amp; bacteriological, public health lab</a:t>
            </a:r>
            <a:endParaRPr lang="en-US" sz="14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Methodology &amp; System Architecture</a:t>
            </a:r>
            <a:endParaRPr lang="en-US" sz="3400" dirty="0"/>
          </a:p>
        </p:txBody>
      </p:sp>
      <p:sp>
        <p:nvSpPr>
          <p:cNvPr id="3" name="step card 1"/>
          <p:cNvSpPr/>
          <p:nvPr/>
        </p:nvSpPr>
        <p:spPr>
          <a:xfrm>
            <a:off x="548640" y="1554480"/>
            <a:ext cx="2011680" cy="374904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number 1"/>
          <p:cNvSpPr txBox="1"/>
          <p:nvPr/>
        </p:nvSpPr>
        <p:spPr>
          <a:xfrm>
            <a:off x="777240" y="17830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60604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Data Ingestion &amp; Embedding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474720"/>
            <a:ext cx="1600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Official PDFs are chunked and embedded (384-dim) into PostgreSQL pgvector.</a:t>
            </a:r>
            <a:endParaRPr lang="en-US" sz="1400" dirty="0"/>
          </a:p>
        </p:txBody>
      </p:sp>
      <p:pic>
        <p:nvPicPr>
          <p:cNvPr id="7" name="Image 0" descr="next ste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4328" y="3291840"/>
            <a:ext cx="182880" cy="182880"/>
          </a:xfrm>
          <a:prstGeom prst="rect">
            <a:avLst/>
          </a:prstGeom>
        </p:spPr>
      </p:pic>
      <p:sp>
        <p:nvSpPr>
          <p:cNvPr id="8" name="step card 2"/>
          <p:cNvSpPr/>
          <p:nvPr/>
        </p:nvSpPr>
        <p:spPr>
          <a:xfrm>
            <a:off x="2834640" y="1554480"/>
            <a:ext cx="2011680" cy="374904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number 2"/>
          <p:cNvSpPr txBox="1"/>
          <p:nvPr/>
        </p:nvSpPr>
        <p:spPr>
          <a:xfrm>
            <a:off x="3063240" y="17830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3063240" y="260604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Project Profile Setup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3063240" y="3474720"/>
            <a:ext cx="1600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User enters business type, district, turnover and milk capacity (LPD).</a:t>
            </a:r>
            <a:endParaRPr lang="en-US" sz="1400" dirty="0"/>
          </a:p>
        </p:txBody>
      </p:sp>
      <p:pic>
        <p:nvPicPr>
          <p:cNvPr id="12" name="Image 1" descr="next ste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0328" y="3291840"/>
            <a:ext cx="182880" cy="182880"/>
          </a:xfrm>
          <a:prstGeom prst="rect">
            <a:avLst/>
          </a:prstGeom>
        </p:spPr>
      </p:pic>
      <p:sp>
        <p:nvSpPr>
          <p:cNvPr id="13" name="step card 3"/>
          <p:cNvSpPr/>
          <p:nvPr/>
        </p:nvSpPr>
        <p:spPr>
          <a:xfrm>
            <a:off x="5120640" y="1554480"/>
            <a:ext cx="2011680" cy="374904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number 3"/>
          <p:cNvSpPr txBox="1"/>
          <p:nvPr/>
        </p:nvSpPr>
        <p:spPr>
          <a:xfrm>
            <a:off x="5349240" y="17830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5349240" y="260604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Rule Engine Execution</a:t>
            </a:r>
            <a:endParaRPr lang="en-US" sz="1700" dirty="0"/>
          </a:p>
        </p:txBody>
      </p:sp>
      <p:sp>
        <p:nvSpPr>
          <p:cNvPr id="16" name="Text 12"/>
          <p:cNvSpPr txBox="1"/>
          <p:nvPr/>
        </p:nvSpPr>
        <p:spPr>
          <a:xfrm>
            <a:off x="5349240" y="3474720"/>
            <a:ext cx="1600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FastAPI evaluates database rules for license tier, fees and checklist.</a:t>
            </a:r>
            <a:endParaRPr lang="en-US" sz="1400" dirty="0"/>
          </a:p>
        </p:txBody>
      </p:sp>
      <p:pic>
        <p:nvPicPr>
          <p:cNvPr id="17" name="Image 2" descr="next ste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6328" y="3291840"/>
            <a:ext cx="182880" cy="182880"/>
          </a:xfrm>
          <a:prstGeom prst="rect">
            <a:avLst/>
          </a:prstGeom>
        </p:spPr>
      </p:pic>
      <p:sp>
        <p:nvSpPr>
          <p:cNvPr id="18" name="step card 4"/>
          <p:cNvSpPr/>
          <p:nvPr/>
        </p:nvSpPr>
        <p:spPr>
          <a:xfrm>
            <a:off x="7406640" y="1554480"/>
            <a:ext cx="2011680" cy="374904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number 4"/>
          <p:cNvSpPr txBox="1"/>
          <p:nvPr/>
        </p:nvSpPr>
        <p:spPr>
          <a:xfrm>
            <a:off x="7635240" y="17830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7635240" y="260604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Document Verification</a:t>
            </a:r>
            <a:endParaRPr lang="en-US" sz="1700" dirty="0"/>
          </a:p>
        </p:txBody>
      </p:sp>
      <p:sp>
        <p:nvSpPr>
          <p:cNvPr id="21" name="Text 16"/>
          <p:cNvSpPr txBox="1"/>
          <p:nvPr/>
        </p:nvSpPr>
        <p:spPr>
          <a:xfrm>
            <a:off x="7635240" y="3474720"/>
            <a:ext cx="1600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Format, size and OCR checks plus cross-document consistency, then officer queue.</a:t>
            </a:r>
            <a:endParaRPr lang="en-US" sz="1400" dirty="0"/>
          </a:p>
        </p:txBody>
      </p:sp>
      <p:pic>
        <p:nvPicPr>
          <p:cNvPr id="22" name="Image 3" descr="next ste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2328" y="3291840"/>
            <a:ext cx="182880" cy="182880"/>
          </a:xfrm>
          <a:prstGeom prst="rect">
            <a:avLst/>
          </a:prstGeom>
        </p:spPr>
      </p:pic>
      <p:sp>
        <p:nvSpPr>
          <p:cNvPr id="23" name="step card 5"/>
          <p:cNvSpPr/>
          <p:nvPr/>
        </p:nvSpPr>
        <p:spPr>
          <a:xfrm>
            <a:off x="9692640" y="1554480"/>
            <a:ext cx="2011680" cy="374904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number 5"/>
          <p:cNvSpPr txBox="1"/>
          <p:nvPr/>
        </p:nvSpPr>
        <p:spPr>
          <a:xfrm>
            <a:off x="9921240" y="17830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5" name="Text 19"/>
          <p:cNvSpPr txBox="1"/>
          <p:nvPr/>
        </p:nvSpPr>
        <p:spPr>
          <a:xfrm>
            <a:off x="9921240" y="260604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RAG &amp; Intelligence</a:t>
            </a:r>
            <a:endParaRPr lang="en-US" sz="1700" dirty="0"/>
          </a:p>
        </p:txBody>
      </p:sp>
      <p:sp>
        <p:nvSpPr>
          <p:cNvPr id="26" name="Text 20"/>
          <p:cNvSpPr txBox="1"/>
          <p:nvPr/>
        </p:nvSpPr>
        <p:spPr>
          <a:xfrm>
            <a:off x="9921240" y="3474720"/>
            <a:ext cx="1600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Cited regulatory answers, or district milk production rankings.</a:t>
            </a:r>
            <a:endParaRPr lang="en-US" sz="1400" dirty="0"/>
          </a:p>
        </p:txBody>
      </p:sp>
      <p:sp>
        <p:nvSpPr>
          <p:cNvPr id="27" name="approval note bg"/>
          <p:cNvSpPr/>
          <p:nvPr/>
        </p:nvSpPr>
        <p:spPr>
          <a:xfrm>
            <a:off x="548640" y="5577840"/>
            <a:ext cx="11155680" cy="640080"/>
          </a:xfrm>
          <a:prstGeom prst="roundRect">
            <a:avLst>
              <a:gd name="adj" fmla="val 11429"/>
            </a:avLst>
          </a:prstGeom>
          <a:solidFill>
            <a:schemeClr val="accent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2"/>
          <p:cNvSpPr txBox="1"/>
          <p:nvPr/>
        </p:nvSpPr>
        <p:spPr>
          <a:xfrm>
            <a:off x="777240" y="557784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Final legal approval always stays with authorized human officers.</a:t>
            </a:r>
            <a:endParaRPr lang="en-US" sz="16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Technology Stack</a:t>
            </a:r>
            <a:endParaRPr lang="en-US" sz="3400" dirty="0"/>
          </a:p>
        </p:txBody>
      </p:sp>
      <p:sp>
        <p:nvSpPr>
          <p:cNvPr id="3" name="tech card 1"/>
          <p:cNvSpPr/>
          <p:nvPr/>
        </p:nvSpPr>
        <p:spPr>
          <a:xfrm>
            <a:off x="548640" y="1463040"/>
            <a:ext cx="356616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Frontend circle"/>
          <p:cNvSpPr/>
          <p:nvPr/>
        </p:nvSpPr>
        <p:spPr>
          <a:xfrm>
            <a:off x="822960" y="173736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Fronte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" y="1885950"/>
            <a:ext cx="297180" cy="2971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00200" y="173736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Frontend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51460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React, Vite, TypeScript, Tailwind CSS</a:t>
            </a:r>
            <a:endParaRPr lang="en-US" sz="1400" dirty="0"/>
          </a:p>
        </p:txBody>
      </p:sp>
      <p:sp>
        <p:nvSpPr>
          <p:cNvPr id="8" name="tech card 2"/>
          <p:cNvSpPr/>
          <p:nvPr/>
        </p:nvSpPr>
        <p:spPr>
          <a:xfrm>
            <a:off x="4343400" y="1463040"/>
            <a:ext cx="356616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UI Theme circle"/>
          <p:cNvSpPr/>
          <p:nvPr/>
        </p:nvSpPr>
        <p:spPr>
          <a:xfrm>
            <a:off x="4617720" y="173736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0" name="Image 1" descr="UI Them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6310" y="1885950"/>
            <a:ext cx="297180" cy="2971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394960" y="173736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UI Theme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4617720" y="251460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Warm cream ivory with deep eucalyptus teal accents; Noto Sans Tamil typography</a:t>
            </a:r>
            <a:endParaRPr lang="en-US" sz="1400" dirty="0"/>
          </a:p>
        </p:txBody>
      </p:sp>
      <p:sp>
        <p:nvSpPr>
          <p:cNvPr id="13" name="tech card 3"/>
          <p:cNvSpPr/>
          <p:nvPr/>
        </p:nvSpPr>
        <p:spPr>
          <a:xfrm>
            <a:off x="8138160" y="1463040"/>
            <a:ext cx="356616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Backend circle"/>
          <p:cNvSpPr/>
          <p:nvPr/>
        </p:nvSpPr>
        <p:spPr>
          <a:xfrm>
            <a:off x="8412480" y="173736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5" name="Image 2" descr="Backen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61070" y="1885950"/>
            <a:ext cx="297180" cy="29718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189720" y="173736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Backend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8412480" y="251460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FastAPI (Python), Pydantic v2, async SQLAlchemy 2.0 ORM</a:t>
            </a:r>
            <a:endParaRPr lang="en-US" sz="1400" dirty="0"/>
          </a:p>
        </p:txBody>
      </p:sp>
      <p:sp>
        <p:nvSpPr>
          <p:cNvPr id="18" name="tech card 4"/>
          <p:cNvSpPr/>
          <p:nvPr/>
        </p:nvSpPr>
        <p:spPr>
          <a:xfrm>
            <a:off x="548640" y="3886200"/>
            <a:ext cx="356616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Database &amp; Vector Store circle"/>
          <p:cNvSpPr/>
          <p:nvPr/>
        </p:nvSpPr>
        <p:spPr>
          <a:xfrm>
            <a:off x="822960" y="416052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0" name="Image 3" descr="Database &amp; Vector Stor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550" y="4309110"/>
            <a:ext cx="297180" cy="29718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600200" y="41605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Database &amp; Vector Store</a:t>
            </a:r>
            <a:endParaRPr lang="en-US" sz="1700" dirty="0"/>
          </a:p>
        </p:txBody>
      </p:sp>
      <p:sp>
        <p:nvSpPr>
          <p:cNvPr id="22" name="Text 16"/>
          <p:cNvSpPr txBox="1"/>
          <p:nvPr/>
        </p:nvSpPr>
        <p:spPr>
          <a:xfrm>
            <a:off x="822960" y="493776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PostgreSQL 15+ with pgvector for semantic similarity search</a:t>
            </a:r>
            <a:endParaRPr lang="en-US" sz="1400" dirty="0"/>
          </a:p>
        </p:txBody>
      </p:sp>
      <p:sp>
        <p:nvSpPr>
          <p:cNvPr id="23" name="tech card 5"/>
          <p:cNvSpPr/>
          <p:nvPr/>
        </p:nvSpPr>
        <p:spPr>
          <a:xfrm>
            <a:off x="4343400" y="3886200"/>
            <a:ext cx="356616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AI &amp; Orchestration circle"/>
          <p:cNvSpPr/>
          <p:nvPr/>
        </p:nvSpPr>
        <p:spPr>
          <a:xfrm>
            <a:off x="4617720" y="416052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5" name="Image 4" descr="AI &amp; Orchestrati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66310" y="4309110"/>
            <a:ext cx="297180" cy="29718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5394960" y="41605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AI &amp; Orchestration</a:t>
            </a:r>
            <a:endParaRPr lang="en-US" sz="1700" dirty="0"/>
          </a:p>
        </p:txBody>
      </p:sp>
      <p:sp>
        <p:nvSpPr>
          <p:cNvPr id="27" name="Text 20"/>
          <p:cNvSpPr txBox="1"/>
          <p:nvPr/>
        </p:nvSpPr>
        <p:spPr>
          <a:xfrm>
            <a:off x="4617720" y="493776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LangChain, Sentence-Transformers (all-MiniLM-L6-v2), Groq/Gemini with strict grounding</a:t>
            </a:r>
            <a:endParaRPr lang="en-US" sz="1400" dirty="0"/>
          </a:p>
        </p:txBody>
      </p:sp>
      <p:sp>
        <p:nvSpPr>
          <p:cNvPr id="28" name="tech card 6"/>
          <p:cNvSpPr/>
          <p:nvPr/>
        </p:nvSpPr>
        <p:spPr>
          <a:xfrm>
            <a:off x="8138160" y="3886200"/>
            <a:ext cx="356616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DevOps &amp; Testing circle"/>
          <p:cNvSpPr/>
          <p:nvPr/>
        </p:nvSpPr>
        <p:spPr>
          <a:xfrm>
            <a:off x="8412480" y="416052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0" name="Image 5" descr="DevOps &amp; Testi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61070" y="4309110"/>
            <a:ext cx="297180" cy="29718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9189720" y="41605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DevOps &amp; Testing</a:t>
            </a:r>
            <a:endParaRPr lang="en-US" sz="1700" dirty="0"/>
          </a:p>
        </p:txBody>
      </p:sp>
      <p:sp>
        <p:nvSpPr>
          <p:cNvPr id="32" name="Text 24"/>
          <p:cNvSpPr txBox="1"/>
          <p:nvPr/>
        </p:nvSpPr>
        <p:spPr>
          <a:xfrm>
            <a:off x="8412480" y="493776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Docker Compose, Alembic migrations, pytest, Vitest</a:t>
            </a:r>
            <a:endParaRPr lang="en-US" sz="14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Result 1: Rule Engine &amp; Fee Calculation</a:t>
            </a:r>
            <a:endParaRPr lang="en-US" sz="3400" dirty="0"/>
          </a:p>
        </p:txBody>
      </p:sp>
      <p:sp>
        <p:nvSpPr>
          <p:cNvPr id="3" name="input card"/>
          <p:cNvSpPr/>
          <p:nvPr/>
        </p:nvSpPr>
        <p:spPr>
          <a:xfrm>
            <a:off x="548640" y="1463040"/>
            <a:ext cx="4297680" cy="4114800"/>
          </a:xfrm>
          <a:prstGeom prst="roundRect">
            <a:avLst>
              <a:gd name="adj" fmla="val 1778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822960" y="1691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chemeClr val="accent6"/>
                </a:solidFill>
              </a:rPr>
              <a:t>INPUT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9456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Business type</a:t>
            </a:r>
            <a:endParaRPr lang="en-US" sz="1400" dirty="0"/>
          </a:p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Dairy Processing Unit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29184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Capacity</a:t>
            </a:r>
            <a:endParaRPr lang="en-US" sz="1400" dirty="0"/>
          </a:p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12,000 Litres per day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38912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Location</a:t>
            </a:r>
            <a:endParaRPr lang="en-US" sz="1400" dirty="0"/>
          </a:p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Salem District, Tamil Nadu</a:t>
            </a:r>
            <a:endParaRPr lang="en-US" sz="1400" dirty="0"/>
          </a:p>
        </p:txBody>
      </p:sp>
      <p:pic>
        <p:nvPicPr>
          <p:cNvPr id="8" name="Image 0" descr="produc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20" y="3337560"/>
            <a:ext cx="548640" cy="548640"/>
          </a:xfrm>
          <a:prstGeom prst="rect">
            <a:avLst/>
          </a:prstGeom>
        </p:spPr>
      </p:pic>
      <p:sp>
        <p:nvSpPr>
          <p:cNvPr id="9" name="output card"/>
          <p:cNvSpPr/>
          <p:nvPr/>
        </p:nvSpPr>
        <p:spPr>
          <a:xfrm>
            <a:off x="5852160" y="1463040"/>
            <a:ext cx="5852160" cy="4114800"/>
          </a:xfrm>
          <a:prstGeom prst="roundRect">
            <a:avLst>
              <a:gd name="adj" fmla="val 1778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 txBox="1"/>
          <p:nvPr/>
        </p:nvSpPr>
        <p:spPr>
          <a:xfrm>
            <a:off x="6172200" y="1691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chemeClr val="accent4"/>
                </a:solidFill>
              </a:rPr>
              <a:t>SYSTEM OUTPUT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6172200" y="219456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License tier identified</a:t>
            </a:r>
            <a:endParaRPr lang="en-US" sz="1400" dirty="0"/>
          </a:p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</a:rPr>
              <a:t>State License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6172200" y="329184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Fee payable</a:t>
            </a:r>
            <a:endParaRPr lang="en-US" sz="1400" dirty="0"/>
          </a:p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</a:rPr>
              <a:t>₹5,000 per annum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6172200" y="438912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Form type</a:t>
            </a:r>
            <a:endParaRPr lang="en-US" sz="1400" dirty="0"/>
          </a:p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</a:rPr>
              <a:t>Form B State License Application</a:t>
            </a:r>
            <a:endParaRPr lang="en-US" sz="1400" dirty="0"/>
          </a:p>
        </p:txBody>
      </p:sp>
      <p:sp>
        <p:nvSpPr>
          <p:cNvPr id="14" name="source bg"/>
          <p:cNvSpPr/>
          <p:nvPr/>
        </p:nvSpPr>
        <p:spPr>
          <a:xfrm>
            <a:off x="548640" y="5760720"/>
            <a:ext cx="11155680" cy="502920"/>
          </a:xfrm>
          <a:prstGeom prst="roundRect">
            <a:avLst>
              <a:gd name="adj" fmla="val 14545"/>
            </a:avLst>
          </a:prstGeom>
          <a:solidFill>
            <a:schemeClr val="accent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 txBox="1"/>
          <p:nvPr/>
        </p:nvSpPr>
        <p:spPr>
          <a:xfrm>
            <a:off x="777240" y="576072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Matched source: </a:t>
            </a:r>
            <a:r>
              <a:rPr lang="en-US" sz="1400" dirty="0">
                <a:solidFill>
                  <a:schemeClr val="tx1"/>
                </a:solidFill>
              </a:rPr>
              <a:t>FSSAI FoSCoS Kind of Business Guidelines, dairy units handling 10,001–50,000 Ltrs/day.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Result 2: Document Checklist &amp; Verification</a:t>
            </a:r>
            <a:endParaRPr lang="en-US" sz="3400" dirty="0"/>
          </a:p>
        </p:txBody>
      </p:sp>
      <p:sp>
        <p:nvSpPr>
          <p:cNvPr id="3" name="checklist panel"/>
          <p:cNvSpPr/>
          <p:nvPr/>
        </p:nvSpPr>
        <p:spPr>
          <a:xfrm>
            <a:off x="548640" y="1463040"/>
            <a:ext cx="5852160" cy="4754880"/>
          </a:xfrm>
          <a:prstGeom prst="roundRect">
            <a:avLst>
              <a:gd name="adj" fmla="val 1538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822960" y="16459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Auto-generated checklist</a:t>
            </a:r>
            <a:endParaRPr lang="en-US" sz="2000" dirty="0"/>
          </a:p>
        </p:txBody>
      </p:sp>
      <p:pic>
        <p:nvPicPr>
          <p:cNvPr id="5" name="Image 0" descr="chec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24028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219456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Production unit photographs</a:t>
            </a:r>
            <a:endParaRPr lang="en-US" sz="1500" dirty="0"/>
          </a:p>
        </p:txBody>
      </p:sp>
      <p:pic>
        <p:nvPicPr>
          <p:cNvPr id="7" name="Image 1" descr="chec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017520"/>
            <a:ext cx="365760" cy="36576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371600" y="297180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Unit layout plan / blueprint with metric dimensions</a:t>
            </a:r>
            <a:endParaRPr lang="en-US" sz="1500" dirty="0"/>
          </a:p>
        </p:txBody>
      </p:sp>
      <p:pic>
        <p:nvPicPr>
          <p:cNvPr id="9" name="Image 2" descr="chec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794760"/>
            <a:ext cx="365760" cy="36576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371600" y="374904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Machinery and equipment list (capacity &amp; horse power)</a:t>
            </a:r>
            <a:endParaRPr lang="en-US" sz="1500" dirty="0"/>
          </a:p>
        </p:txBody>
      </p:sp>
      <p:pic>
        <p:nvPicPr>
          <p:cNvPr id="11" name="Image 3" descr="chec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572000"/>
            <a:ext cx="365760" cy="365760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371600" y="452628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Chemical &amp; bacteriological water analysis report</a:t>
            </a:r>
            <a:endParaRPr lang="en-US" sz="1500" dirty="0"/>
          </a:p>
        </p:txBody>
      </p:sp>
      <p:pic>
        <p:nvPicPr>
          <p:cNvPr id="13" name="Image 4" descr="chec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5349240"/>
            <a:ext cx="365760" cy="365760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1371600" y="530352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Government photo ID and address proof of proprietor / director</a:t>
            </a:r>
            <a:endParaRPr lang="en-US" sz="1500" dirty="0"/>
          </a:p>
        </p:txBody>
      </p:sp>
      <p:sp>
        <p:nvSpPr>
          <p:cNvPr id="15" name="verification panel"/>
          <p:cNvSpPr/>
          <p:nvPr/>
        </p:nvSpPr>
        <p:spPr>
          <a:xfrm>
            <a:off x="6766560" y="1463040"/>
            <a:ext cx="4937760" cy="4754880"/>
          </a:xfrm>
          <a:prstGeom prst="roundRect">
            <a:avLst>
              <a:gd name="adj" fmla="val 1538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9"/>
          <p:cNvSpPr txBox="1"/>
          <p:nvPr/>
        </p:nvSpPr>
        <p:spPr>
          <a:xfrm>
            <a:off x="7040880" y="16459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Honest verification pipeline</a:t>
            </a:r>
            <a:endParaRPr lang="en-US" sz="2000" dirty="0"/>
          </a:p>
        </p:txBody>
      </p:sp>
      <p:sp>
        <p:nvSpPr>
          <p:cNvPr id="17" name="Text 10"/>
          <p:cNvSpPr txBox="1"/>
          <p:nvPr/>
        </p:nvSpPr>
        <p:spPr>
          <a:xfrm>
            <a:off x="7040880" y="21488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accent4"/>
                </a:solidFill>
              </a:rPr>
              <a:t>Automatically flags:</a:t>
            </a:r>
            <a:endParaRPr lang="en-US" sz="1500" dirty="0"/>
          </a:p>
        </p:txBody>
      </p:sp>
      <p:sp>
        <p:nvSpPr>
          <p:cNvPr id="18" name="flag 1"/>
          <p:cNvSpPr/>
          <p:nvPr/>
        </p:nvSpPr>
        <p:spPr>
          <a:xfrm>
            <a:off x="7040880" y="2606040"/>
            <a:ext cx="4389120" cy="594360"/>
          </a:xfrm>
          <a:prstGeom prst="roundRect">
            <a:avLst>
              <a:gd name="adj" fmla="val 12308"/>
            </a:avLst>
          </a:prstGeom>
          <a:solidFill>
            <a:schemeClr val="accent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2"/>
          <p:cNvSpPr txBox="1"/>
          <p:nvPr/>
        </p:nvSpPr>
        <p:spPr>
          <a:xfrm>
            <a:off x="7269480" y="260604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Unreadable file formats</a:t>
            </a:r>
            <a:endParaRPr lang="en-US" sz="1500" dirty="0"/>
          </a:p>
        </p:txBody>
      </p:sp>
      <p:sp>
        <p:nvSpPr>
          <p:cNvPr id="20" name="flag 2"/>
          <p:cNvSpPr/>
          <p:nvPr/>
        </p:nvSpPr>
        <p:spPr>
          <a:xfrm>
            <a:off x="7040880" y="3337560"/>
            <a:ext cx="4389120" cy="594360"/>
          </a:xfrm>
          <a:prstGeom prst="roundRect">
            <a:avLst>
              <a:gd name="adj" fmla="val 12308"/>
            </a:avLst>
          </a:prstGeom>
          <a:solidFill>
            <a:schemeClr val="accent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4"/>
          <p:cNvSpPr txBox="1"/>
          <p:nvPr/>
        </p:nvSpPr>
        <p:spPr>
          <a:xfrm>
            <a:off x="7269480" y="333756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Expired water reports</a:t>
            </a:r>
            <a:endParaRPr lang="en-US" sz="1500" dirty="0"/>
          </a:p>
        </p:txBody>
      </p:sp>
      <p:sp>
        <p:nvSpPr>
          <p:cNvPr id="22" name="flag 3"/>
          <p:cNvSpPr/>
          <p:nvPr/>
        </p:nvSpPr>
        <p:spPr>
          <a:xfrm>
            <a:off x="7040880" y="4069080"/>
            <a:ext cx="4389120" cy="594360"/>
          </a:xfrm>
          <a:prstGeom prst="roundRect">
            <a:avLst>
              <a:gd name="adj" fmla="val 12308"/>
            </a:avLst>
          </a:prstGeom>
          <a:solidFill>
            <a:schemeClr val="accent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16"/>
          <p:cNvSpPr txBox="1"/>
          <p:nvPr/>
        </p:nvSpPr>
        <p:spPr>
          <a:xfrm>
            <a:off x="7269480" y="406908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Name mismatch between Form A and ID proof</a:t>
            </a:r>
            <a:endParaRPr lang="en-US" sz="1500" dirty="0"/>
          </a:p>
        </p:txBody>
      </p:sp>
      <p:sp>
        <p:nvSpPr>
          <p:cNvPr id="24" name="Text 17"/>
          <p:cNvSpPr txBox="1"/>
          <p:nvPr/>
        </p:nvSpPr>
        <p:spPr>
          <a:xfrm>
            <a:off x="7040880" y="502920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i="1" dirty="0">
                <a:solidFill>
                  <a:schemeClr val="accent2"/>
                </a:solidFill>
              </a:rPr>
              <a:t>Final legal approval rests solely with human officers.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Result 3: RAG Chatbot &amp; Bilingual Support</a:t>
            </a:r>
            <a:endParaRPr lang="en-US" sz="3400" dirty="0"/>
          </a:p>
        </p:txBody>
      </p:sp>
      <p:sp>
        <p:nvSpPr>
          <p:cNvPr id="3" name="retrieval card"/>
          <p:cNvSpPr/>
          <p:nvPr/>
        </p:nvSpPr>
        <p:spPr>
          <a:xfrm>
            <a:off x="548640" y="1463040"/>
            <a:ext cx="548640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retrieval circle"/>
          <p:cNvSpPr/>
          <p:nvPr/>
        </p:nvSpPr>
        <p:spPr>
          <a:xfrm>
            <a:off x="822960" y="16916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retrieva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182880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54480" y="169164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Hybrid retrieval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46888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Cosine similarity + BM25, merged via Reciprocal Rank Fusion over the ingested official guidelines.</a:t>
            </a:r>
            <a:endParaRPr lang="en-US" sz="1500" dirty="0"/>
          </a:p>
        </p:txBody>
      </p:sp>
      <p:sp>
        <p:nvSpPr>
          <p:cNvPr id="8" name="bilingual card"/>
          <p:cNvSpPr/>
          <p:nvPr/>
        </p:nvSpPr>
        <p:spPr>
          <a:xfrm>
            <a:off x="6217920" y="1463040"/>
            <a:ext cx="548640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bilingual circle"/>
          <p:cNvSpPr/>
          <p:nvPr/>
        </p:nvSpPr>
        <p:spPr>
          <a:xfrm>
            <a:off x="6492240" y="16916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0" name="Image 1" descr="bilingua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182880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223760" y="169164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English &amp; Tamil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6492240" y="246888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i="1" dirty="0">
                <a:solidFill>
                  <a:schemeClr val="accent1"/>
                </a:solidFill>
              </a:rPr>
              <a:t>தமிழ்நாட்டில் பால் கடை தொடங்க என்ன ஆவணங்கள் தேவை?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Language is detected automatically; answers cite document title and page number.</a:t>
            </a:r>
            <a:endParaRPr lang="en-US" sz="1400" dirty="0"/>
          </a:p>
        </p:txBody>
      </p:sp>
      <p:sp>
        <p:nvSpPr>
          <p:cNvPr id="13" name="guardrail panel"/>
          <p:cNvSpPr/>
          <p:nvPr/>
        </p:nvSpPr>
        <p:spPr>
          <a:xfrm>
            <a:off x="548640" y="4023360"/>
            <a:ext cx="11155680" cy="2194560"/>
          </a:xfrm>
          <a:prstGeom prst="roundRect">
            <a:avLst>
              <a:gd name="adj" fmla="val 3333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0"/>
          <p:cNvSpPr txBox="1"/>
          <p:nvPr/>
        </p:nvSpPr>
        <p:spPr>
          <a:xfrm>
            <a:off x="868680" y="4251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chemeClr val="accent2"/>
                </a:solidFill>
              </a:rPr>
              <a:t>GUARDRAIL ENFORCEMENT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868680" y="470916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i="1" dirty="0">
                <a:solidFill>
                  <a:schemeClr val="bg1"/>
                </a:solidFill>
              </a:rPr>
              <a:t>“This information is not available in the official documents I have access to. Please refer to FoSCoS (foscos.fssai.gov.in) or contact FSSAI directly.”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Result 4: District Opportunity Finder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accent6"/>
                </a:solidFill>
              </a:rPr>
              <a:t>Built on historical district-wise milk production records from data.gov.in.</a:t>
            </a:r>
            <a:endParaRPr lang="en-US" sz="1600" dirty="0"/>
          </a:p>
        </p:txBody>
      </p:sp>
      <p:sp>
        <p:nvSpPr>
          <p:cNvPr id="4" name="capability 1"/>
          <p:cNvSpPr/>
          <p:nvPr/>
        </p:nvSpPr>
        <p:spPr>
          <a:xfrm>
            <a:off x="548640" y="1783080"/>
            <a:ext cx="594360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Rank districts circle"/>
          <p:cNvSpPr/>
          <p:nvPr/>
        </p:nvSpPr>
        <p:spPr>
          <a:xfrm>
            <a:off x="777240" y="2121408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Rank district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830" y="2269998"/>
            <a:ext cx="297180" cy="2971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45920" y="192024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Rank districts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By production volume and growth trajectory.</a:t>
            </a:r>
            <a:endParaRPr lang="en-US" sz="1400" dirty="0"/>
          </a:p>
        </p:txBody>
      </p:sp>
      <p:sp>
        <p:nvSpPr>
          <p:cNvPr id="8" name="capability 2"/>
          <p:cNvSpPr/>
          <p:nvPr/>
        </p:nvSpPr>
        <p:spPr>
          <a:xfrm>
            <a:off x="548640" y="3246120"/>
            <a:ext cx="594360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Match markets circle"/>
          <p:cNvSpPr/>
          <p:nvPr/>
        </p:nvSpPr>
        <p:spPr>
          <a:xfrm>
            <a:off x="777240" y="3584448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0" name="Image 1" descr="Match market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830" y="3733038"/>
            <a:ext cx="297180" cy="2971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645920" y="338328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Match markets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Surplus districts vs. deficit retail markets.</a:t>
            </a:r>
            <a:endParaRPr lang="en-US" sz="1400" dirty="0"/>
          </a:p>
        </p:txBody>
      </p:sp>
      <p:sp>
        <p:nvSpPr>
          <p:cNvPr id="12" name="capability 3"/>
          <p:cNvSpPr/>
          <p:nvPr/>
        </p:nvSpPr>
        <p:spPr>
          <a:xfrm>
            <a:off x="548640" y="4709160"/>
            <a:ext cx="594360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Inform stakeholders circle"/>
          <p:cNvSpPr/>
          <p:nvPr/>
        </p:nvSpPr>
        <p:spPr>
          <a:xfrm>
            <a:off x="777240" y="5047488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4" name="Image 2" descr="Inform stakeholder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5830" y="5196078"/>
            <a:ext cx="297180" cy="29718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645920" y="484632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Inform stakeholders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Interactive Recharts dashboards for entrepreneurs and investors.</a:t>
            </a:r>
            <a:endParaRPr lang="en-US" sz="1400" dirty="0"/>
          </a:p>
        </p:txBody>
      </p:sp>
      <p:sp>
        <p:nvSpPr>
          <p:cNvPr id="16" name="districts panel"/>
          <p:cNvSpPr/>
          <p:nvPr/>
        </p:nvSpPr>
        <p:spPr>
          <a:xfrm>
            <a:off x="6858000" y="1783080"/>
            <a:ext cx="4846320" cy="4206240"/>
          </a:xfrm>
          <a:prstGeom prst="roundRect">
            <a:avLst>
              <a:gd name="adj" fmla="val 1739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2"/>
          <p:cNvSpPr txBox="1"/>
          <p:nvPr/>
        </p:nvSpPr>
        <p:spPr>
          <a:xfrm>
            <a:off x="7132320" y="201168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</a:rPr>
              <a:t>High-yield surplus districts</a:t>
            </a:r>
            <a:endParaRPr lang="en-US" sz="1900" dirty="0"/>
          </a:p>
        </p:txBody>
      </p:sp>
      <p:sp>
        <p:nvSpPr>
          <p:cNvPr id="18" name="district Namakkal"/>
          <p:cNvSpPr txBox="1"/>
          <p:nvPr/>
        </p:nvSpPr>
        <p:spPr>
          <a:xfrm>
            <a:off x="7132320" y="2697480"/>
            <a:ext cx="2011680" cy="685800"/>
          </a:xfrm>
          <a:prstGeom prst="roundRect">
            <a:avLst>
              <a:gd name="adj" fmla="val 4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tx1"/>
                </a:solidFill>
              </a:rPr>
              <a:t>Namakkal</a:t>
            </a:r>
            <a:endParaRPr lang="en-US" sz="1700" dirty="0"/>
          </a:p>
        </p:txBody>
      </p:sp>
      <p:sp>
        <p:nvSpPr>
          <p:cNvPr id="19" name="district Salem"/>
          <p:cNvSpPr txBox="1"/>
          <p:nvPr/>
        </p:nvSpPr>
        <p:spPr>
          <a:xfrm>
            <a:off x="9326880" y="2697480"/>
            <a:ext cx="2011680" cy="685800"/>
          </a:xfrm>
          <a:prstGeom prst="roundRect">
            <a:avLst>
              <a:gd name="adj" fmla="val 4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tx1"/>
                </a:solidFill>
              </a:rPr>
              <a:t>Salem</a:t>
            </a:r>
            <a:endParaRPr lang="en-US" sz="1700" dirty="0"/>
          </a:p>
        </p:txBody>
      </p:sp>
      <p:sp>
        <p:nvSpPr>
          <p:cNvPr id="20" name="district Erode"/>
          <p:cNvSpPr txBox="1"/>
          <p:nvPr/>
        </p:nvSpPr>
        <p:spPr>
          <a:xfrm>
            <a:off x="7132320" y="3611880"/>
            <a:ext cx="2011680" cy="685800"/>
          </a:xfrm>
          <a:prstGeom prst="roundRect">
            <a:avLst>
              <a:gd name="adj" fmla="val 4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tx1"/>
                </a:solidFill>
              </a:rPr>
              <a:t>Erode</a:t>
            </a:r>
            <a:endParaRPr lang="en-US" sz="1700" dirty="0"/>
          </a:p>
        </p:txBody>
      </p:sp>
      <p:sp>
        <p:nvSpPr>
          <p:cNvPr id="21" name="district Madurai"/>
          <p:cNvSpPr txBox="1"/>
          <p:nvPr/>
        </p:nvSpPr>
        <p:spPr>
          <a:xfrm>
            <a:off x="9326880" y="3611880"/>
            <a:ext cx="2011680" cy="685800"/>
          </a:xfrm>
          <a:prstGeom prst="roundRect">
            <a:avLst>
              <a:gd name="adj" fmla="val 4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tx1"/>
                </a:solidFill>
              </a:rPr>
              <a:t>Madurai</a:t>
            </a:r>
            <a:endParaRPr lang="en-US" sz="1700" dirty="0"/>
          </a:p>
        </p:txBody>
      </p:sp>
      <p:sp>
        <p:nvSpPr>
          <p:cNvPr id="22" name="Text 17"/>
          <p:cNvSpPr txBox="1"/>
          <p:nvPr/>
        </p:nvSpPr>
        <p:spPr>
          <a:xfrm>
            <a:off x="7132320" y="475488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chemeClr val="accent4"/>
                </a:solidFill>
              </a:rPr>
              <a:t>Example districts. Final rankings come from the live data.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Project Outcome Summary</a:t>
            </a:r>
            <a:endParaRPr lang="en-US" sz="3400" dirty="0"/>
          </a:p>
        </p:txBody>
      </p:sp>
      <p:sp>
        <p:nvSpPr>
          <p:cNvPr id="3" name="outcome card 1"/>
          <p:cNvSpPr/>
          <p:nvPr/>
        </p:nvSpPr>
        <p:spPr>
          <a:xfrm>
            <a:off x="548640" y="1463040"/>
            <a:ext cx="548640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Unified platform circle"/>
          <p:cNvSpPr/>
          <p:nvPr/>
        </p:nvSpPr>
        <p:spPr>
          <a:xfrm>
            <a:off x="822960" y="17373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Unified platfor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410" y="1908810"/>
            <a:ext cx="342900" cy="3429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37360" y="173736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Unified platform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60604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FSSAI compliance, Aavin requirements, district intelligence and grievance redressal in one dashboard.</a:t>
            </a:r>
            <a:endParaRPr lang="en-US" sz="1500" dirty="0"/>
          </a:p>
        </p:txBody>
      </p:sp>
      <p:sp>
        <p:nvSpPr>
          <p:cNvPr id="8" name="outcome card 2"/>
          <p:cNvSpPr/>
          <p:nvPr/>
        </p:nvSpPr>
        <p:spPr>
          <a:xfrm>
            <a:off x="6217920" y="1463040"/>
            <a:ext cx="548640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Error reduction circle"/>
          <p:cNvSpPr/>
          <p:nvPr/>
        </p:nvSpPr>
        <p:spPr>
          <a:xfrm>
            <a:off x="6492240" y="17373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0" name="Image 1" descr="Error reducti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3690" y="1908810"/>
            <a:ext cx="342900" cy="3429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406640" y="173736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Error reduction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6492240" y="260604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Pre-validates water reports and blueprints to prevent administrative rejection.</a:t>
            </a:r>
            <a:endParaRPr lang="en-US" sz="1500" dirty="0"/>
          </a:p>
        </p:txBody>
      </p:sp>
      <p:sp>
        <p:nvSpPr>
          <p:cNvPr id="13" name="outcome card 3"/>
          <p:cNvSpPr/>
          <p:nvPr/>
        </p:nvSpPr>
        <p:spPr>
          <a:xfrm>
            <a:off x="548640" y="3886200"/>
            <a:ext cx="548640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ransparent guidance circle"/>
          <p:cNvSpPr/>
          <p:nvPr/>
        </p:nvSpPr>
        <p:spPr>
          <a:xfrm>
            <a:off x="822960" y="416052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5" name="Image 2" descr="Transparent guidanc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4410" y="4331970"/>
            <a:ext cx="342900" cy="3429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737360" y="416052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Transparent guidance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822960" y="502920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Verifiable rules, fee breakdowns and citation-backed AI assistance replace ambiguity.</a:t>
            </a:r>
            <a:endParaRPr lang="en-US" sz="1500" dirty="0"/>
          </a:p>
        </p:txBody>
      </p:sp>
      <p:sp>
        <p:nvSpPr>
          <p:cNvPr id="18" name="outcome card 4"/>
          <p:cNvSpPr/>
          <p:nvPr/>
        </p:nvSpPr>
        <p:spPr>
          <a:xfrm>
            <a:off x="6217920" y="3886200"/>
            <a:ext cx="548640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Production-ready circle"/>
          <p:cNvSpPr/>
          <p:nvPr/>
        </p:nvSpPr>
        <p:spPr>
          <a:xfrm>
            <a:off x="6492240" y="416052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0" name="Image 3" descr="Production-ready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3690" y="4331970"/>
            <a:ext cx="342900" cy="3429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406640" y="416052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Production-ready</a:t>
            </a:r>
            <a:endParaRPr lang="en-US" sz="2000" dirty="0"/>
          </a:p>
        </p:txBody>
      </p:sp>
      <p:sp>
        <p:nvSpPr>
          <p:cNvPr id="22" name="Text 16"/>
          <p:cNvSpPr txBox="1"/>
          <p:nvPr/>
        </p:nvSpPr>
        <p:spPr>
          <a:xfrm>
            <a:off x="6492240" y="502920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Built on FastAPI, PostgreSQL (pgvector) and React/TypeScript.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Future Scope &amp; Roadmap</a:t>
            </a:r>
            <a:endParaRPr lang="en-US" sz="3400" dirty="0"/>
          </a:p>
        </p:txBody>
      </p:sp>
      <p:sp>
        <p:nvSpPr>
          <p:cNvPr id="3" name="timeline line"/>
          <p:cNvSpPr/>
          <p:nvPr/>
        </p:nvSpPr>
        <p:spPr>
          <a:xfrm>
            <a:off x="1097280" y="2103120"/>
            <a:ext cx="9966960" cy="0"/>
          </a:xfrm>
          <a:prstGeom prst="line">
            <a:avLst/>
          </a:prstGeom>
          <a:noFill/>
          <a:ln w="38100">
            <a:solidFill>
              <a:srgbClr val="C8E3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number 1"/>
          <p:cNvSpPr txBox="1"/>
          <p:nvPr/>
        </p:nvSpPr>
        <p:spPr>
          <a:xfrm>
            <a:off x="822960" y="18288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roadmap card 1"/>
          <p:cNvSpPr/>
          <p:nvPr/>
        </p:nvSpPr>
        <p:spPr>
          <a:xfrm>
            <a:off x="548640" y="2743200"/>
            <a:ext cx="2651760" cy="329184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777240" y="29718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Direct portal integrations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886200"/>
            <a:ext cx="2194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Secure API connectors with state single-window systems as endpoints expand.</a:t>
            </a:r>
            <a:endParaRPr lang="en-US" sz="1500" dirty="0"/>
          </a:p>
        </p:txBody>
      </p:sp>
      <p:sp>
        <p:nvSpPr>
          <p:cNvPr id="8" name="number 2"/>
          <p:cNvSpPr txBox="1"/>
          <p:nvPr/>
        </p:nvSpPr>
        <p:spPr>
          <a:xfrm>
            <a:off x="3657600" y="18288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roadmap card 2"/>
          <p:cNvSpPr/>
          <p:nvPr/>
        </p:nvSpPr>
        <p:spPr>
          <a:xfrm>
            <a:off x="3383280" y="2743200"/>
            <a:ext cx="2651760" cy="329184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3611880" y="29718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Expanded rule coverage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611880" y="3886200"/>
            <a:ext cx="2194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Additional agricultural processing categories and state subsidy schemes.</a:t>
            </a:r>
            <a:endParaRPr lang="en-US" sz="1500" dirty="0"/>
          </a:p>
        </p:txBody>
      </p:sp>
      <p:sp>
        <p:nvSpPr>
          <p:cNvPr id="12" name="number 3"/>
          <p:cNvSpPr txBox="1"/>
          <p:nvPr/>
        </p:nvSpPr>
        <p:spPr>
          <a:xfrm>
            <a:off x="6492240" y="18288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roadmap card 3"/>
          <p:cNvSpPr/>
          <p:nvPr/>
        </p:nvSpPr>
        <p:spPr>
          <a:xfrm>
            <a:off x="6217920" y="2743200"/>
            <a:ext cx="2651760" cy="329184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6446520" y="29718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Advanced OCR parsing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3886200"/>
            <a:ext cx="2194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Bounding-box extraction for automated verification of multi-language documents.</a:t>
            </a:r>
            <a:endParaRPr lang="en-US" sz="1500" dirty="0"/>
          </a:p>
        </p:txBody>
      </p:sp>
      <p:sp>
        <p:nvSpPr>
          <p:cNvPr id="16" name="number 4"/>
          <p:cNvSpPr txBox="1"/>
          <p:nvPr/>
        </p:nvSpPr>
        <p:spPr>
          <a:xfrm>
            <a:off x="9326880" y="18288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7" name="roadmap card 4"/>
          <p:cNvSpPr/>
          <p:nvPr/>
        </p:nvSpPr>
        <p:spPr>
          <a:xfrm>
            <a:off x="9052560" y="2743200"/>
            <a:ext cx="2651760" cy="329184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 txBox="1"/>
          <p:nvPr/>
        </p:nvSpPr>
        <p:spPr>
          <a:xfrm>
            <a:off x="9281160" y="29718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Field testing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9281160" y="3886200"/>
            <a:ext cx="2194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Pilot with cooperative milk producers and entrepreneurs in select districts.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 large"/>
          <p:cNvSpPr/>
          <p:nvPr/>
        </p:nvSpPr>
        <p:spPr>
          <a:xfrm>
            <a:off x="9052560" y="640080"/>
            <a:ext cx="3840480" cy="38404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18872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chemeClr val="bg1"/>
                </a:solidFill>
              </a:rPr>
              <a:t>Conclusion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0"/>
            <a:ext cx="8595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i="1" dirty="0">
                <a:solidFill>
                  <a:schemeClr val="bg1"/>
                </a:solidFill>
              </a:rPr>
              <a:t>“From fragmented requirements and multi-portal confusion to a clear, data-driven, and trackable dairy entrepreneurship journey in Tamil Nadu.”</a:t>
            </a:r>
            <a:endParaRPr lang="en-US" sz="2800" dirty="0"/>
          </a:p>
        </p:txBody>
      </p:sp>
      <p:sp>
        <p:nvSpPr>
          <p:cNvPr id="5" name="QA chip"/>
          <p:cNvSpPr txBox="1"/>
          <p:nvPr/>
        </p:nvSpPr>
        <p:spPr>
          <a:xfrm>
            <a:off x="548640" y="5212080"/>
            <a:ext cx="2560320" cy="640080"/>
          </a:xfrm>
          <a:prstGeom prst="roundRect">
            <a:avLst>
              <a:gd name="adj" fmla="val 42857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Open for Q&amp;A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airySetu">
  <a:themeElements>
    <a:clrScheme name="DairySetu">
      <a:dk1>
        <a:srgbClr val="12302E"/>
      </a:dk1>
      <a:lt1>
        <a:srgbClr val="FFFFFF"/>
      </a:lt1>
      <a:dk2>
        <a:srgbClr val="0B4F4D"/>
      </a:dk2>
      <a:lt2>
        <a:srgbClr val="EAF4F2"/>
      </a:lt2>
      <a:accent1>
        <a:srgbClr val="0E7C7B"/>
      </a:accent1>
      <a:accent2>
        <a:srgbClr val="F2A93B"/>
      </a:accent2>
      <a:accent3>
        <a:srgbClr val="5BA89A"/>
      </a:accent3>
      <a:accent4>
        <a:srgbClr val="C8E3DD"/>
      </a:accent4>
      <a:accent5>
        <a:srgbClr val="C0504D"/>
      </a:accent5>
      <a:accent6>
        <a:srgbClr val="5E7371"/>
      </a:accent6>
      <a:hlink>
        <a:srgbClr val="0E7C7B"/>
      </a:hlink>
      <a:folHlink>
        <a:srgbClr val="5E7371"/>
      </a:folHlink>
    </a:clrScheme>
    <a:fontScheme name="DairySetu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1288</Words>
  <Application>Microsoft Office PowerPoint</Application>
  <PresentationFormat>Widescreen</PresentationFormat>
  <Paragraphs>247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Cambria</vt:lpstr>
      <vt:lpstr>DairySetu</vt:lpstr>
      <vt:lpstr>CLEARPATH AI</vt:lpstr>
      <vt:lpstr>Motivation &amp; Background</vt:lpstr>
      <vt:lpstr>Scope of the Project</vt:lpstr>
      <vt:lpstr>Objectives of the Project</vt:lpstr>
      <vt:lpstr>Literature &amp; Portal Review</vt:lpstr>
      <vt:lpstr>Gap Identified &amp; Solution</vt:lpstr>
      <vt:lpstr>Knowledge Base &amp; Rule Engine</vt:lpstr>
      <vt:lpstr>Methodology &amp; System Architecture</vt:lpstr>
      <vt:lpstr>Technology Stack</vt:lpstr>
      <vt:lpstr>Result 1: Rule Engine &amp; Fee Calculation</vt:lpstr>
      <vt:lpstr>Result 2: Document Checklist &amp; Verification</vt:lpstr>
      <vt:lpstr>Result 3: RAG Chatbot &amp; Bilingual Support</vt:lpstr>
      <vt:lpstr>Result 4: District Opportunity Finder</vt:lpstr>
      <vt:lpstr>Project Outcome Summary</vt:lpstr>
      <vt:lpstr>Future Scope &amp; Roadmap</vt:lpstr>
      <vt:lpstr>Conclusion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DairySetu-TN | SIH 26130</dc:title>
  <dc:subject>PptxGenJS Presentation</dc:subject>
  <dc:creator>Team DairySetu-TN</dc:creator>
  <cp:lastModifiedBy>Malack Hassan</cp:lastModifiedBy>
  <cp:revision>2</cp:revision>
  <dcterms:created xsi:type="dcterms:W3CDTF">2026-10-12T11:22:22Z</dcterms:created>
  <dcterms:modified xsi:type="dcterms:W3CDTF">2026-10-12T11:49:43Z</dcterms:modified>
</cp:coreProperties>
</file>